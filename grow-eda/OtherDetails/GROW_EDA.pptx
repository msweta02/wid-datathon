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We pointed the GROW track at supply-chain risk, so our production analysis speaks to the same questions a TRADE team asks — using only FAOSTAT production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punchline. We measured production concentration for every major crop. A handful are so concentrated in one country that a single drought, export ban, or conflict there would remove a large share of world supply. Concentration numbers come straight from FAOSTAT 2024 production shares.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Tonnage isn't importance — sugar cane and milk are heavy/wet. That's why we layer concentration and value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concentration of producers is the backdrop to every supply-risk question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teams stop at volume. Value divergence is a subtler, more differentiated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FAOSTAT's pre-computed continental aggregates — no summing countries. Answers the brief's core question: how is production shifting across regions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HHI is the antitrust concentration measure. &gt;2500 = highly concentrated. India = 69% of buffalo milk; Indonesia = 58% of oil palm.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production-side version of a supply shock. If a crop barely grows elsewhere, the shock is baked into geography.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rising line would mean systemic risk increasing — a trend-based hypothesis for the modeling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 is relative to each region's 2014-16 base, so read Africa's flatness, not the absolute level. Proxy for import reliance without trade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production of the three staples, country sum. Maize's post-2000 surge is driven by feed and industrial demand, not just food.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Food-security-positive framing: more food without deforestation. New Zealand ~10,000 kg/ha vs Burundi/Libya under 1,000.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Wheat's top producer is only ~18% of world output — the least concentrated staple, which matters for the trade bridge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Asia's dominance in rice is structural and stable — relevant to why Asian importers behave differently from wheat importers.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Maize's regional shift tracks the global rise in animal-feed and industrial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Wheat is grown widely (China #1 at only ~18%) but exported by few — which is why importers still face concentrated suppliers.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Australia is one of the few big wheat exporters. Its year-to-year volatility is exactly the kind of supply wobble that propagates to dependent importers.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TRADE deck showed Indonesia's wheat imports rising in cost. Here's the flip side: it produces essentially no wheat, even though it's the world's #4 rice grower. Grows plenty of rice, none of its wheat — that's the root of the import dependence.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Asian concentration of rice production shapes which countries can export and which must import.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Vietnam's stable, growing rice output is the export backbone that flexible importers like China and the Philippines can lean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production backbone behind the TRADE deck's 'China + rice = flexible, discretionary imports'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TRACK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Production Side of Food Security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grows the world's staples, how fragile that supply is, and who is falling behind — from FAOSTAT production data alone.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few crops are one bad harvest from a global shortfall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5F5F5"/>
          </a:solidFill>
          <a:ln w="12700">
            <a:solidFill>
              <a:srgbClr val="D8DC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154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69%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51560" y="4160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world's buffalo milk is India alone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274320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5F5F5"/>
          </a:solidFill>
          <a:ln w="12700">
            <a:solidFill>
              <a:srgbClr val="D8DC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3154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58%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937760" y="4160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world oil palm lost if Indonesia's harvest fails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95360" y="274320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5F5F5"/>
          </a:solidFill>
          <a:ln w="12700">
            <a:solidFill>
              <a:srgbClr val="D8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3154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36%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823960" y="4160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world soya sits with one country, Brazil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the world grows,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where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scan: commodities, countries, value, and how production behaves over time.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GROWN MOST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handful of crops feed the world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cane, maize, rice and wheat dominate global tonnage — the staples worth focusing on.</a:t>
            </a:r>
            <a:endParaRPr lang="en-US" sz="1600" dirty="0"/>
          </a:p>
        </p:txBody>
      </p:sp>
      <p:pic>
        <p:nvPicPr>
          <p:cNvPr id="5" name="Image 0" descr="/home/claude/deck/figs/f_top_fo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01168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GROWN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countries carry global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China, India, Brazil, the US and Indonesia produce the bulk of the world's food by weight.</a:t>
            </a:r>
            <a:endParaRPr lang="en-US" sz="1600" dirty="0"/>
          </a:p>
        </p:txBody>
      </p:sp>
      <p:pic>
        <p:nvPicPr>
          <p:cNvPr id="5" name="Image 0" descr="/home/claude/deck/figs/f_top_count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01168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 LENS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Value doesn't always track volume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production value with tonnage shows where crops shift toward higher-value output.</a:t>
            </a:r>
            <a:endParaRPr lang="en-US" sz="1600" dirty="0"/>
          </a:p>
        </p:txBody>
      </p:sp>
      <p:pic>
        <p:nvPicPr>
          <p:cNvPr id="5" name="Image 0" descr="/home/claude/deck/figs/f_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011680"/>
            <a:ext cx="81381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TRENDS FROM THE AGGREGATES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Production is shifting between regions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FAOSTAT's continent aggregates show each region's share of world output moving over time.</a:t>
            </a:r>
            <a:endParaRPr lang="en-US" sz="1600" dirty="0"/>
          </a:p>
        </p:txBody>
      </p:sp>
      <p:pic>
        <p:nvPicPr>
          <p:cNvPr id="5" name="Image 0" descr="/home/claude/deck/figs/f_reg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011680"/>
            <a:ext cx="101041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SUPPLY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Some crops are one country deep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HHI concentration index, buffalo milk, oil palm and soya are single-point-of-failure crops.</a:t>
            </a:r>
            <a:endParaRPr lang="en-US" sz="1600" dirty="0"/>
          </a:p>
        </p:txBody>
      </p:sp>
      <p:pic>
        <p:nvPicPr>
          <p:cNvPr id="5" name="Image 0" descr="/home/claude/deck/figs/f_concen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011680"/>
            <a:ext cx="71323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EXPOSURE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Lose one producer, lose the supply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top producer erases 58% of world oil palm, 36% of soya — overnight.</a:t>
            </a:r>
            <a:endParaRPr lang="en-US" sz="1600" dirty="0"/>
          </a:p>
        </p:txBody>
      </p:sp>
      <p:pic>
        <p:nvPicPr>
          <p:cNvPr id="5" name="Image 0" descr="/home/claude/deck/figs/f_sh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0" y="2011680"/>
            <a:ext cx="7360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RISK RISING?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Staple concentration over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the top-3 producer share shows whether global supply is growing more fragile.</a:t>
            </a:r>
            <a:endParaRPr lang="en-US" sz="1600" dirty="0"/>
          </a:p>
        </p:txBody>
      </p:sp>
      <p:pic>
        <p:nvPicPr>
          <p:cNvPr id="5" name="Image 0" descr="/home/claude/deck/figs/f_conc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011680"/>
            <a:ext cx="8915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FALLS BEHIND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Africa's output is standing still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Per-capita production rose everywhere but Africa — a signal of rising import need.</a:t>
            </a:r>
            <a:endParaRPr lang="en-US" sz="1600" dirty="0"/>
          </a:p>
        </p:txBody>
      </p:sp>
      <p:pic>
        <p:nvPicPr>
          <p:cNvPr id="5" name="Image 0" descr="/home/claude/deck/figs/f_self_su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2011680"/>
            <a:ext cx="90982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staples up close: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wheat, rice, maize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Zooming from the global scan into the three crops that anchor world food supply.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DECADES OF 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Wheat, rice and maize since 1961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roughly quadrupled — but maize pulled ahead, overtaking both after 2000.</a:t>
            </a:r>
            <a:endParaRPr lang="en-US" sz="1600" dirty="0"/>
          </a:p>
        </p:txBody>
      </p:sp>
      <p:pic>
        <p:nvPicPr>
          <p:cNvPr id="5" name="Image 0" descr="/home/claude/deck/figs/f_staples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011680"/>
            <a:ext cx="81381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tenfold wheat yield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countries reach ~10 t/ha; laggards under 1 — closing the gap lifts output with no new land.</a:t>
            </a:r>
            <a:endParaRPr lang="en-US" sz="1600" dirty="0"/>
          </a:p>
        </p:txBody>
      </p:sp>
      <p:pic>
        <p:nvPicPr>
          <p:cNvPr id="5" name="Image 0" descr="/home/claude/deck/figs/f_yield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011680"/>
            <a:ext cx="81381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wheat is grown, over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Wheat's regional share has shifted markedly — a spread-out crop with no single dominant grower.</a:t>
            </a:r>
            <a:endParaRPr lang="en-US" sz="1600" dirty="0"/>
          </a:p>
        </p:txBody>
      </p:sp>
      <p:pic>
        <p:nvPicPr>
          <p:cNvPr id="5" name="Image 0" descr="/home/claude/deck/figs/f_wheat_reg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011680"/>
            <a:ext cx="101041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rice is grown, over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is overwhelmingly Asian — the continent has held ~90% of world production for decades.</a:t>
            </a:r>
            <a:endParaRPr lang="en-US" sz="1600" dirty="0"/>
          </a:p>
        </p:txBody>
      </p:sp>
      <p:pic>
        <p:nvPicPr>
          <p:cNvPr id="5" name="Image 0" descr="/home/claude/deck/figs/f_rice_reg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011680"/>
            <a:ext cx="101041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maize is grown, over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Americas lead maize, but Asia's share has climbed steadily as feed demand grows.</a:t>
            </a:r>
            <a:endParaRPr lang="en-US" sz="1600" dirty="0"/>
          </a:p>
        </p:txBody>
      </p:sp>
      <p:pic>
        <p:nvPicPr>
          <p:cNvPr id="5" name="Image 0" descr="/home/claude/deck/figs/f_maize_reg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011680"/>
            <a:ext cx="101041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THE BRIDGE TO TRADE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crops, same countries,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lenses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side of the TRADE deck's wheat and rice findings.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— THE SUPPLY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 grows the wheat others import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wheat producers are the supply base behind every importer's dependency.</a:t>
            </a:r>
            <a:endParaRPr lang="en-US" sz="1600" dirty="0"/>
          </a:p>
        </p:txBody>
      </p:sp>
      <p:pic>
        <p:nvPicPr>
          <p:cNvPr id="5" name="Image 0" descr="/home/claude/deck/figs/f_wheat_pr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01168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— A KEY EXPORTER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Australia's wheat: volatile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 wheat exporter, but its production swings with drought — a source of import risk downstream.</a:t>
            </a:r>
            <a:endParaRPr lang="en-US" sz="1600" dirty="0"/>
          </a:p>
        </p:txBody>
      </p:sp>
      <p:pic>
        <p:nvPicPr>
          <p:cNvPr id="5" name="Image 0" descr="/home/claude/deck/figs/f_austral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011680"/>
            <a:ext cx="5760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— THE IMPORTER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Indonesia grows no wheat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world's #4 rice producer — but absent from wheat entirely. That gap is why it must import.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5029200" cy="237744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17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53 Mt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produced — 4th in the world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2651760"/>
            <a:ext cx="5029200" cy="2377440"/>
          </a:xfrm>
          <a:prstGeom prst="roundRect">
            <a:avLst>
              <a:gd name="adj" fmla="val 4615"/>
            </a:avLst>
          </a:prstGeom>
          <a:solidFill>
            <a:srgbClr val="F3E4E1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3017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850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~0 Mt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309360" y="4160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produced — not on the map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— THE SUPPLY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 grows the world's rice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production concentrates in Asia — India and China alone are nearly half of world output.</a:t>
            </a:r>
            <a:endParaRPr lang="en-US" sz="1600" dirty="0"/>
          </a:p>
        </p:txBody>
      </p:sp>
      <p:pic>
        <p:nvPicPr>
          <p:cNvPr id="5" name="Image 0" descr="/home/claude/deck/figs/f_rice_pr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420" y="2011680"/>
            <a:ext cx="77266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— A KEY EXPORTER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Vietnam's rice: steady surplus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rice exporter with steadily rising output — the dependable supply behind many Asian importers.</a:t>
            </a:r>
            <a:endParaRPr lang="en-US" sz="1600" dirty="0"/>
          </a:p>
        </p:txBody>
      </p:sp>
      <p:pic>
        <p:nvPicPr>
          <p:cNvPr id="5" name="Image 0" descr="/home/claude/deck/figs/f_vietn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011680"/>
            <a:ext cx="5760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— THE FLEXIBLE IMPORTER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China grows its own rice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Mt of domestic rice is why China can treat rice imports as optional, not critical.</a:t>
            </a:r>
            <a:endParaRPr lang="en-US" sz="1600" dirty="0"/>
          </a:p>
        </p:txBody>
      </p:sp>
      <p:pic>
        <p:nvPicPr>
          <p:cNvPr id="5" name="Image 0" descr="/home/claude/deck/figs/f_china_r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011680"/>
            <a:ext cx="57607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2026-08-24T20:35:06Z</dcterms:created>
  <dcterms:modified xsi:type="dcterms:W3CDTF">2026-08-24T20:35:06Z</dcterms:modified>
</cp:coreProperties>
</file>