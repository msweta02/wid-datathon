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2A4A5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E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Land-use change</c:v>
                  </c:pt>
                  <c:pt idx="1">
                    <c:v>Livestock</c:v>
                  </c:pt>
                  <c:pt idx="2">
                    <c:v>Supply chain</c:v>
                  </c:pt>
                  <c:pt idx="3">
                    <c:v>On-farm energy</c:v>
                  </c:pt>
                  <c:pt idx="4">
                    <c:v>Crops (other)</c:v>
                  </c:pt>
                  <c:pt idx="5">
                    <c:v>Rice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27.6</c:v>
                </c:pt>
                <c:pt idx="1">
                  <c:v>27.5</c:v>
                </c:pt>
                <c:pt idx="2">
                  <c:v>26.4</c:v>
                </c:pt>
                <c:pt idx="3">
                  <c:v>7.5</c:v>
                </c:pt>
                <c:pt idx="4">
                  <c:v>5.8</c:v>
                </c:pt>
                <c:pt idx="5">
                  <c:v>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E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F2E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Intensity</c:v>
                </c:pt>
              </c:strCache>
            </c:strRef>
          </c:tx>
          <c:spPr>
            <a:solidFill>
              <a:srgbClr val="C0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E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Beef</c:v>
                  </c:pt>
                  <c:pt idx="1">
                    <c:v>Dairy (cattle)</c:v>
                  </c:pt>
                  <c:pt idx="2">
                    <c:v>Rice</c:v>
                  </c:pt>
                  <c:pt idx="3">
                    <c:v>Camel milk</c:v>
                  </c:pt>
                  <c:pt idx="4">
                    <c:v>Sheep milk</c:v>
                  </c:pt>
                  <c:pt idx="5">
                    <c:v>Cereals (ex-rice)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66.5</c:v>
                </c:pt>
                <c:pt idx="1">
                  <c:v>30.2</c:v>
                </c:pt>
                <c:pt idx="2">
                  <c:v>24</c:v>
                </c:pt>
                <c:pt idx="3">
                  <c:v>20</c:v>
                </c:pt>
                <c:pt idx="4">
                  <c:v>17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E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F2E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surplus</c:v>
                </c:pt>
              </c:strCache>
            </c:strRef>
          </c:tx>
          <c:spPr>
            <a:solidFill>
              <a:srgbClr val="C06B4A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E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India</c:v>
                  </c:pt>
                  <c:pt idx="1">
                    <c:v>Brazil</c:v>
                  </c:pt>
                  <c:pt idx="2">
                    <c:v>Pakistan</c:v>
                  </c:pt>
                  <c:pt idx="3">
                    <c:v>Indonesia</c:v>
                  </c:pt>
                  <c:pt idx="4">
                    <c:v>Canada</c:v>
                  </c:pt>
                  <c:pt idx="5">
                    <c:v>Thailand</c:v>
                  </c:pt>
                  <c:pt idx="6">
                    <c:v>Viet Nam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17.23</c:v>
                </c:pt>
                <c:pt idx="1">
                  <c:v>5.32</c:v>
                </c:pt>
                <c:pt idx="2">
                  <c:v>4.03</c:v>
                </c:pt>
                <c:pt idx="3">
                  <c:v>2.28</c:v>
                </c:pt>
                <c:pt idx="4">
                  <c:v>1.75</c:v>
                </c:pt>
                <c:pt idx="5">
                  <c:v>1.7</c:v>
                </c:pt>
                <c:pt idx="6">
                  <c:v>1.49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E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F2E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00200"/>
            <a:ext cx="256032" cy="256032"/>
          </a:xfrm>
          <a:prstGeom prst="ellipse">
            <a:avLst/>
          </a:prstGeom>
          <a:solidFill>
            <a:srgbClr val="C0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88720" y="15910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TRACK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Environmental Footprint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of How We Feed Ourselves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42976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agrifood emissions really come from — and the single biggest lever to cut them without cutting output. Built from FAOSTAT emissions, intensity, and land-use data.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FAOSTAT · Emissions Totals · Emissions Intensities · Land Use · 2023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0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41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F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There is no single villain — the footprint is three equal thirds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1D0"/>
            </a:solidFill>
            <a:prstDash val="solid"/>
          </a:ln>
          <a:effectLst>
            <a:outerShdw sx="100000" sy="100000" kx="0" ky="0" algn="bl" rotWithShape="0" blurRad="101600" dist="38100" dir="5400000">
              <a:srgbClr val="B8C0BF">
                <a:alpha val="4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A4A5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27.6%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 change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114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conversion, drained soils, fires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210312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1D0"/>
            </a:solidFill>
            <a:prstDash val="solid"/>
          </a:ln>
          <a:effectLst>
            <a:outerShdw sx="100000" sy="100000" kx="0" ky="0" algn="bl" rotWithShape="0" blurRad="101600" dist="38100" dir="5400000">
              <a:srgbClr val="B8C0BF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25146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E6B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27.5%</a:t>
            </a:r>
            <a:endParaRPr lang="en-US" sz="5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611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Livestock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4114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enteric fermentation &amp; manure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21040" y="210312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1D0"/>
            </a:solidFill>
            <a:prstDash val="solid"/>
          </a:ln>
          <a:effectLst>
            <a:outerShdw sx="100000" sy="100000" kx="0" ky="0" algn="bl" rotWithShape="0" blurRad="101600" dist="38100" dir="5400000">
              <a:srgbClr val="B8C0BF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1040" y="25146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06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26.4%</a:t>
            </a:r>
            <a:endParaRPr lang="en-US" sz="58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611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41148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processing, transport, retail, waste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are 81% of agrifood emissions — no single source you can “fix” in isolation. The story is the balance, not a culprit.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agrifood-system emissions (CO₂eq, AR5), leaf-level sources, 2023. FAOSTAT.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EMISSIONS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the emissions come from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297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agrifood footprint, broken into non-overlapping sources — counting each emission once.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1965960"/>
            <a:ext cx="201168" cy="201168"/>
          </a:xfrm>
          <a:prstGeom prst="ellipse">
            <a:avLst/>
          </a:prstGeom>
          <a:solidFill>
            <a:srgbClr val="C06B4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0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BREAKDOWN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41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F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Six source groups, counted without double-counting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19456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E8E4D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3252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83464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cuts of this data appeared to show “supply chain” leading — an artifact of counting parent and child categories twice.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each emission once, the top three sit within 1.2 points of each other.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leaf-level sources as % of agrifood emissions (CO₂eq), 2023. FAOSTAT Emissions Totals.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EMISSIONS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lever: same food, wildly different footprint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297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intensity varies enormously between producers of the identical commodity.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1965960"/>
            <a:ext cx="201168" cy="201168"/>
          </a:xfrm>
          <a:prstGeom prst="ellipse">
            <a:avLst/>
          </a:prstGeom>
          <a:solidFill>
            <a:srgbClr val="C06B4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0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PRODUCTION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41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F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few foods carry most of the per-kilo footprint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19456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E8E4D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3252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83464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Kilograms of CO₂eq per kilogram of product (global median).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sits far above everything else — but the median hides an even bigger story between countries.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emissions intensity by commodity, kg CO₂eq/kg, 2023. FAOSTAT Emissions Intensities.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0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FINDING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41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same kilo of beef, produced two ways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06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14.5×</a:t>
            </a:r>
            <a:endParaRPr lang="en-US" sz="1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9776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9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in emissions between a typical efficient producer and a typical inefficient one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16.3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258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CO₂eq/kg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715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producer (10th pct)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291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66.5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3401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CO₂eq/kg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858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median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4434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235.7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45445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CO₂eq/kg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5001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producer (90th pct)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 (cattle meat). p10 / median / p90 across producing countries, 2% tails trimmed, 2023. FAOSTAT.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LAND USE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much land, and where it's shifting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297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is the largest single claim on the planet's habitable land — and forests are the frontier.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1965960"/>
            <a:ext cx="201168" cy="201168"/>
          </a:xfrm>
          <a:prstGeom prst="ellipse">
            <a:avLst/>
          </a:prstGeom>
          <a:solidFill>
            <a:srgbClr val="C06B4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0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 HEALTH · FORESTS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41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F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global forest total hides where it matters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forest loss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6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−141.8M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81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Congo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081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6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−24.6M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484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3648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6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−22.5M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153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421538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6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−15.3M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782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Angola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4782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06B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−14.6M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of forest, 1990–2025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103120"/>
            <a:ext cx="0" cy="3291840"/>
          </a:xfrm>
          <a:prstGeom prst="line">
            <a:avLst/>
          </a:prstGeom>
          <a:noFill/>
          <a:ln w="12700">
            <a:solidFill>
              <a:srgbClr val="C9D1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forest gain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514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6B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+75.1M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081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3081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6B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+9.9M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6484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364845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3E6B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+6.9M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3525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Afforestation in Asia offsets the total on paper —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6725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does not replace lost tropical ecosystems.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net figures conceal a redistribution — tropical forest loss offset by temperate/Asian planting. The two are not ecologically equivalent.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Forest land by country, 1990–2025, million ha. FAOSTAT Land Use.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PLANET HEALTH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Beyond carbon: the nutrient footprint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297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Fertilizer that crops never absorb runs off into water — a planet-health harm distinct from climate.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1965960"/>
            <a:ext cx="201168" cy="201168"/>
          </a:xfrm>
          <a:prstGeom prst="ellipse">
            <a:avLst/>
          </a:prstGeom>
          <a:solidFill>
            <a:srgbClr val="C06B4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0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SURPLUS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41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F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nitrogen overload concentrates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96596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219456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E8E4D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3252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732520" y="283464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use efficiency ranges from ~6% (Mongolia) to ~125% (Ghana) among major croplands.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the least-efficient toward best practice cuts run-off without cutting yields — the same “close the gap” lever seen in emissions.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Cropland nitrogen surplus (Nutrient balance), million tonnes N, 2023. FAOSTAT Cropland Nutrient Balance.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A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STRATEGY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strategy this points to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297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impact lives in the method, not the food, the lever is closing the efficiency gap.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1965960"/>
            <a:ext cx="201168" cy="201168"/>
          </a:xfrm>
          <a:prstGeom prst="ellipse">
            <a:avLst/>
          </a:prstGeom>
          <a:solidFill>
            <a:srgbClr val="C06B4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C0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502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0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4124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900" b="1" dirty="0">
                <a:solidFill>
                  <a:srgbClr val="1F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Lower impact without lowering output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2A4A5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6712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13055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gap, not the product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06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Beef's 14.5× emissions spread and nitrogen's 20× efficiency range both say the same thing: impact is inherent to the method, not the food. Bring laggards toward best-in-class.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2A4A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58444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54787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tropical frontier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40233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forest gain masks Brazil's 141M-ha loss. Halting tropical conversion is a distinct, high-value lever that afforestation elsewhere cannot substitute for.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rgbClr val="2A4A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001768"/>
            <a:ext cx="548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FAF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9651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theme, three fronts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54406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Emissions, land, and nutrients are the same story of inefficiency. A strategy that closes efficiency gaps cuts all three at once — without cutting output.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of the emissions, intensity, and land-use analysis.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2026-08-26T22:43:56Z</dcterms:created>
  <dcterms:modified xsi:type="dcterms:W3CDTF">2026-08-26T22:43:56Z</dcterms:modified>
</cp:coreProperties>
</file>