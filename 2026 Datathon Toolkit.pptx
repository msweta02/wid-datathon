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10287000" cx="18288000"/>
  <p:notesSz cx="10287000" cy="18288000"/>
  <p:embeddedFontLst>
    <p:embeddedFont>
      <p:font typeface="Montserrat SemiBold"/>
      <p:regular r:id="rId25"/>
      <p:bold r:id="rId26"/>
      <p:italic r:id="rId27"/>
      <p:boldItalic r:id="rId28"/>
    </p:embeddedFont>
    <p:embeddedFont>
      <p:font typeface="Montserrat Medium"/>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Sw018bJA9p06ImCTzH4FFgKlz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SemiBold-bold.fntdata"/><Relationship Id="rId25" Type="http://schemas.openxmlformats.org/officeDocument/2006/relationships/font" Target="fonts/MontserratSemiBold-regular.fntdata"/><Relationship Id="rId28" Type="http://schemas.openxmlformats.org/officeDocument/2006/relationships/font" Target="fonts/MontserratSemiBold-boldItalic.fntdata"/><Relationship Id="rId27" Type="http://schemas.openxmlformats.org/officeDocument/2006/relationships/font" Target="fonts/MontserratSemi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Medium-italic.fntdata"/><Relationship Id="rId30" Type="http://schemas.openxmlformats.org/officeDocument/2006/relationships/font" Target="fonts/MontserratMedium-bold.fntdata"/><Relationship Id="rId11" Type="http://schemas.openxmlformats.org/officeDocument/2006/relationships/slide" Target="slides/slide7.xml"/><Relationship Id="rId33" Type="http://schemas.openxmlformats.org/officeDocument/2006/relationships/font" Target="fonts/OpenSans-regular.fntdata"/><Relationship Id="rId10" Type="http://schemas.openxmlformats.org/officeDocument/2006/relationships/slide" Target="slides/slide6.xml"/><Relationship Id="rId32" Type="http://schemas.openxmlformats.org/officeDocument/2006/relationships/font" Target="fonts/MontserratMedium-boldItalic.fntdata"/><Relationship Id="rId13" Type="http://schemas.openxmlformats.org/officeDocument/2006/relationships/slide" Target="slides/slide9.xml"/><Relationship Id="rId35" Type="http://schemas.openxmlformats.org/officeDocument/2006/relationships/font" Target="fonts/OpenSans-italic.fntdata"/><Relationship Id="rId12" Type="http://schemas.openxmlformats.org/officeDocument/2006/relationships/slide" Target="slides/slide8.xml"/><Relationship Id="rId34" Type="http://schemas.openxmlformats.org/officeDocument/2006/relationships/font" Target="fonts/OpenSans-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OpenSans-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Grow — Crop &amp; livestock production trends</a:t>
            </a:r>
            <a:br>
              <a:rPr b="1"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Problems:</a:t>
            </a:r>
            <a:r>
              <a:rPr lang="en-US" sz="1100">
                <a:latin typeface="Arial"/>
                <a:ea typeface="Arial"/>
                <a:cs typeface="Arial"/>
                <a:sym typeface="Arial"/>
              </a:rPr>
              <a:t> How production is shifting across regions and over time, what's driving changes in yield and output, forecasting future production.</a:t>
            </a:r>
            <a:br>
              <a:rPr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Skills &amp; technologies:</a:t>
            </a:r>
            <a:r>
              <a:rPr lang="en-US" sz="1100">
                <a:latin typeface="Arial"/>
                <a:ea typeface="Arial"/>
                <a:cs typeface="Arial"/>
                <a:sym typeface="Arial"/>
              </a:rPr>
              <a:t> Time-series analysis, trend and growth-rate modeling, forecasting (ARIMA, regression), and data cleaning across long historical datasets. A good fit for teams wanting to strengthen statistical analysis and predictive modeling.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Trade — Global food flows &amp; supply chains</a:t>
            </a:r>
            <a:br>
              <a:rPr b="1"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Problems:</a:t>
            </a:r>
            <a:r>
              <a:rPr lang="en-US" sz="1100">
                <a:latin typeface="Arial"/>
                <a:ea typeface="Arial"/>
                <a:cs typeface="Arial"/>
                <a:sym typeface="Arial"/>
              </a:rPr>
              <a:t> How countries connect through imports/exports, where supply-chain dependencies or vulnerabilities exist, how trade flows shift after disruptions.</a:t>
            </a:r>
            <a:br>
              <a:rPr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Skills &amp; technologies:</a:t>
            </a:r>
            <a:r>
              <a:rPr lang="en-US" sz="1100">
                <a:latin typeface="Arial"/>
                <a:ea typeface="Arial"/>
                <a:cs typeface="Arial"/>
                <a:sym typeface="Arial"/>
              </a:rPr>
              <a:t> Network analysis, geospatial mapping, flow visualization, and relational data work (joining and pivoting large trade-matrix datasets). Strong for teams interested in network graphs, mapping, and data visualization.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Eat — Nutrition, diets &amp; food security</a:t>
            </a:r>
            <a:br>
              <a:rPr b="1"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Problems:</a:t>
            </a:r>
            <a:r>
              <a:rPr lang="en-US" sz="1100">
                <a:latin typeface="Arial"/>
                <a:ea typeface="Arial"/>
                <a:cs typeface="Arial"/>
                <a:sym typeface="Arial"/>
              </a:rPr>
              <a:t> How nutrition and food access vary across populations, where food-security gaps exist, relationships between diet, availability, and outcomes.</a:t>
            </a:r>
            <a:br>
              <a:rPr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Skills &amp; technologies:</a:t>
            </a:r>
            <a:r>
              <a:rPr lang="en-US" sz="1100">
                <a:latin typeface="Arial"/>
                <a:ea typeface="Arial"/>
                <a:cs typeface="Arial"/>
                <a:sym typeface="Arial"/>
              </a:rPr>
              <a:t> Exploratory data analysis, comparative/statistical analysis, correlation and clustering, and dashboard-style visualization. A great entry point for teams that want to sharpen EDA, storytelling, and insight communication, and it's approachable for less technical members.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Sustain — Emissions, land use &amp; planet health</a:t>
            </a:r>
            <a:br>
              <a:rPr b="1"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Problems:</a:t>
            </a:r>
            <a:r>
              <a:rPr lang="en-US" sz="1100">
                <a:latin typeface="Arial"/>
                <a:ea typeface="Arial"/>
                <a:cs typeface="Arial"/>
                <a:sym typeface="Arial"/>
              </a:rPr>
              <a:t> The environmental footprint of food production, where the highest-impact opportunities to reduce emissions or land use lie, tradeoffs between output and sustainability.</a:t>
            </a:r>
            <a:br>
              <a:rPr lang="en-US" sz="1100">
                <a:latin typeface="Arial"/>
                <a:ea typeface="Arial"/>
                <a:cs typeface="Arial"/>
                <a:sym typeface="Arial"/>
              </a:rPr>
            </a:br>
            <a:r>
              <a:rPr lang="en-US" sz="1100">
                <a:latin typeface="Arial"/>
                <a:ea typeface="Arial"/>
                <a:cs typeface="Arial"/>
                <a:sym typeface="Arial"/>
              </a:rPr>
              <a:t> </a:t>
            </a:r>
            <a:r>
              <a:rPr i="1" lang="en-US" sz="1100">
                <a:latin typeface="Arial"/>
                <a:ea typeface="Arial"/>
                <a:cs typeface="Arial"/>
                <a:sym typeface="Arial"/>
              </a:rPr>
              <a:t>Skills &amp; technologies:</a:t>
            </a:r>
            <a:r>
              <a:rPr lang="en-US" sz="1100">
                <a:latin typeface="Arial"/>
                <a:ea typeface="Arial"/>
                <a:cs typeface="Arial"/>
                <a:sym typeface="Arial"/>
              </a:rPr>
              <a:t> Geospatial analysis, multi-variable and scenario modeling, correlation across environmental and production datasets, and impact visualization. Good for teams wanting to work with more complex, multi-source analysis and ML.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 quick recommendation: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If your team is newer or wants to build core EDA + storytelling skills → </a:t>
            </a:r>
            <a:r>
              <a:rPr b="1" lang="en-US" sz="1100">
                <a:latin typeface="Arial"/>
                <a:ea typeface="Arial"/>
                <a:cs typeface="Arial"/>
                <a:sym typeface="Arial"/>
              </a:rPr>
              <a:t>Eat</a:t>
            </a:r>
            <a:r>
              <a:rPr lang="en-US" sz="1100">
                <a:latin typeface="Arial"/>
                <a:ea typeface="Arial"/>
                <a:cs typeface="Arial"/>
                <a:sym typeface="Arial"/>
              </a:rPr>
              <a:t> is the most approachable.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If they want predictive modeling / forecasting practice → </a:t>
            </a:r>
            <a:r>
              <a:rPr b="1" lang="en-US" sz="1100">
                <a:latin typeface="Arial"/>
                <a:ea typeface="Arial"/>
                <a:cs typeface="Arial"/>
                <a:sym typeface="Arial"/>
              </a:rPr>
              <a:t>Grow</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If they're excited about mapping, network graphs, and visualization → </a:t>
            </a:r>
            <a:r>
              <a:rPr b="1" lang="en-US" sz="1100">
                <a:latin typeface="Arial"/>
                <a:ea typeface="Arial"/>
                <a:cs typeface="Arial"/>
                <a:sym typeface="Arial"/>
              </a:rPr>
              <a:t>Trade</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If they want the most complex, multi-source analytical challenge → </a:t>
            </a:r>
            <a:r>
              <a:rPr b="1" lang="en-US" sz="1100">
                <a:latin typeface="Arial"/>
                <a:ea typeface="Arial"/>
                <a:cs typeface="Arial"/>
                <a:sym typeface="Arial"/>
              </a:rPr>
              <a:t>Sustain</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0" name="Google Shape;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7022f96d2_0_23:notes"/>
          <p:cNvSpPr/>
          <p:nvPr>
            <p:ph idx="2" type="sldImg"/>
          </p:nvPr>
        </p:nvSpPr>
        <p:spPr>
          <a:xfrm>
            <a:off x="1714838" y="1371600"/>
            <a:ext cx="6858600" cy="6858000"/>
          </a:xfrm>
          <a:custGeom>
            <a:rect b="b" l="l" r="r" t="t"/>
            <a:pathLst>
              <a:path extrusionOk="0" h="120000" w="120000">
                <a:moveTo>
                  <a:pt x="0" y="0"/>
                </a:moveTo>
                <a:lnTo>
                  <a:pt x="120000" y="0"/>
                </a:lnTo>
                <a:lnTo>
                  <a:pt x="120000" y="120000"/>
                </a:lnTo>
                <a:lnTo>
                  <a:pt x="0" y="120000"/>
                </a:lnTo>
                <a:close/>
              </a:path>
            </a:pathLst>
          </a:custGeom>
          <a:noFill/>
          <a:ln cap="flat" cmpd="sng" w="15875">
            <a:solidFill>
              <a:srgbClr val="000000"/>
            </a:solidFill>
            <a:prstDash val="solid"/>
            <a:round/>
            <a:headEnd len="sm" w="sm" type="none"/>
            <a:tailEnd len="sm" w="sm" type="none"/>
          </a:ln>
        </p:spPr>
      </p:sp>
      <p:sp>
        <p:nvSpPr>
          <p:cNvPr id="107" name="Google Shape;107;g3f7022f96d2_0_23:notes"/>
          <p:cNvSpPr txBox="1"/>
          <p:nvPr>
            <p:ph idx="1" type="body"/>
          </p:nvPr>
        </p:nvSpPr>
        <p:spPr>
          <a:xfrm>
            <a:off x="1028700" y="8686800"/>
            <a:ext cx="8229600" cy="8229600"/>
          </a:xfrm>
          <a:prstGeom prst="rect">
            <a:avLst/>
          </a:prstGeom>
          <a:noFill/>
          <a:ln>
            <a:noFill/>
          </a:ln>
        </p:spPr>
        <p:txBody>
          <a:bodyPr anchorCtr="0" anchor="t" bIns="152375" lIns="152375" spcFirstLastPara="1" rIns="152375" wrap="square" tIns="152375">
            <a:noAutofit/>
          </a:bodyPr>
          <a:lstStyle/>
          <a:p>
            <a:pPr indent="0" lvl="0" marL="0" rtl="0" algn="l">
              <a:lnSpc>
                <a:spcPct val="100000"/>
              </a:lnSpc>
              <a:spcBef>
                <a:spcPts val="0"/>
              </a:spcBef>
              <a:spcAft>
                <a:spcPts val="0"/>
              </a:spcAft>
              <a:buSzPts val="18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7022f96d2_0_204:notes"/>
          <p:cNvSpPr/>
          <p:nvPr>
            <p:ph idx="2" type="sldImg"/>
          </p:nvPr>
        </p:nvSpPr>
        <p:spPr>
          <a:xfrm>
            <a:off x="1714838" y="1371600"/>
            <a:ext cx="6858600" cy="6858000"/>
          </a:xfrm>
          <a:custGeom>
            <a:rect b="b" l="l" r="r" t="t"/>
            <a:pathLst>
              <a:path extrusionOk="0" h="120000" w="120000">
                <a:moveTo>
                  <a:pt x="0" y="0"/>
                </a:moveTo>
                <a:lnTo>
                  <a:pt x="120000" y="0"/>
                </a:lnTo>
                <a:lnTo>
                  <a:pt x="120000" y="120000"/>
                </a:lnTo>
                <a:lnTo>
                  <a:pt x="0" y="120000"/>
                </a:lnTo>
                <a:close/>
              </a:path>
            </a:pathLst>
          </a:custGeom>
          <a:noFill/>
          <a:ln cap="flat" cmpd="sng" w="15875">
            <a:solidFill>
              <a:srgbClr val="000000"/>
            </a:solidFill>
            <a:prstDash val="solid"/>
            <a:round/>
            <a:headEnd len="sm" w="sm" type="none"/>
            <a:tailEnd len="sm" w="sm" type="none"/>
          </a:ln>
        </p:spPr>
      </p:sp>
      <p:sp>
        <p:nvSpPr>
          <p:cNvPr id="136" name="Google Shape;136;g3f7022f96d2_0_204:notes"/>
          <p:cNvSpPr txBox="1"/>
          <p:nvPr>
            <p:ph idx="1" type="body"/>
          </p:nvPr>
        </p:nvSpPr>
        <p:spPr>
          <a:xfrm>
            <a:off x="1028700" y="8686800"/>
            <a:ext cx="8229600" cy="8229600"/>
          </a:xfrm>
          <a:prstGeom prst="rect">
            <a:avLst/>
          </a:prstGeom>
          <a:noFill/>
          <a:ln>
            <a:noFill/>
          </a:ln>
        </p:spPr>
        <p:txBody>
          <a:bodyPr anchorCtr="0" anchor="t" bIns="152375" lIns="152375" spcFirstLastPara="1" rIns="152375" wrap="square" tIns="152375">
            <a:noAutofit/>
          </a:bodyPr>
          <a:lstStyle/>
          <a:p>
            <a:pPr indent="0" lvl="0" marL="0" rtl="0" algn="l">
              <a:lnSpc>
                <a:spcPct val="100000"/>
              </a:lnSpc>
              <a:spcBef>
                <a:spcPts val="0"/>
              </a:spcBef>
              <a:spcAft>
                <a:spcPts val="0"/>
              </a:spcAft>
              <a:buSzPts val="18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7022f96d2_0_123:notes"/>
          <p:cNvSpPr txBox="1"/>
          <p:nvPr>
            <p:ph idx="1" type="body"/>
          </p:nvPr>
        </p:nvSpPr>
        <p:spPr>
          <a:xfrm>
            <a:off x="1028700" y="8686800"/>
            <a:ext cx="8229600" cy="8229600"/>
          </a:xfrm>
          <a:prstGeom prst="rect">
            <a:avLst/>
          </a:prstGeom>
          <a:noFill/>
          <a:ln>
            <a:noFill/>
          </a:ln>
        </p:spPr>
        <p:txBody>
          <a:bodyPr anchorCtr="0" anchor="t" bIns="152375" lIns="152375" spcFirstLastPara="1" rIns="152375" wrap="square" tIns="152375">
            <a:noAutofit/>
          </a:bodyPr>
          <a:lstStyle/>
          <a:p>
            <a:pPr indent="0" lvl="0" marL="0" rtl="0" algn="l">
              <a:lnSpc>
                <a:spcPct val="100000"/>
              </a:lnSpc>
              <a:spcBef>
                <a:spcPts val="0"/>
              </a:spcBef>
              <a:spcAft>
                <a:spcPts val="0"/>
              </a:spcAft>
              <a:buSzPts val="1800"/>
              <a:buNone/>
            </a:pPr>
            <a:r>
              <a:t/>
            </a:r>
            <a:endParaRPr/>
          </a:p>
        </p:txBody>
      </p:sp>
      <p:sp>
        <p:nvSpPr>
          <p:cNvPr id="142" name="Google Shape;142;g3f7022f96d2_0_123:notes"/>
          <p:cNvSpPr/>
          <p:nvPr>
            <p:ph idx="2" type="sldImg"/>
          </p:nvPr>
        </p:nvSpPr>
        <p:spPr>
          <a:xfrm>
            <a:off x="1714838" y="1371600"/>
            <a:ext cx="6858600" cy="6858000"/>
          </a:xfrm>
          <a:custGeom>
            <a:rect b="b" l="l" r="r" t="t"/>
            <a:pathLst>
              <a:path extrusionOk="0" h="120000" w="120000">
                <a:moveTo>
                  <a:pt x="0" y="0"/>
                </a:moveTo>
                <a:lnTo>
                  <a:pt x="120000" y="0"/>
                </a:lnTo>
                <a:lnTo>
                  <a:pt x="120000" y="120000"/>
                </a:lnTo>
                <a:lnTo>
                  <a:pt x="0" y="120000"/>
                </a:lnTo>
                <a:close/>
              </a:path>
            </a:pathLst>
          </a:custGeom>
          <a:noFill/>
          <a:ln cap="flat" cmpd="sng" w="1587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7022f96d2_0_1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g3f7022f96d2_0_1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g3f7022f96d2_0_1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s://www.fao.org/faostat/en/#dat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hyperlink" Target="http://www.youtube.com/watch?v=Oyshg2ARDKk" TargetMode="External"/><Relationship Id="rId11" Type="http://schemas.openxmlformats.org/officeDocument/2006/relationships/image" Target="../media/image17.jpg"/><Relationship Id="rId10" Type="http://schemas.openxmlformats.org/officeDocument/2006/relationships/hyperlink" Target="http://www.youtube.com/watch?v=eeu6pHDX1Lk" TargetMode="External"/><Relationship Id="rId9" Type="http://schemas.openxmlformats.org/officeDocument/2006/relationships/image" Target="../media/image14.jpg"/><Relationship Id="rId5" Type="http://schemas.openxmlformats.org/officeDocument/2006/relationships/image" Target="../media/image16.jpg"/><Relationship Id="rId6" Type="http://schemas.openxmlformats.org/officeDocument/2006/relationships/hyperlink" Target="http://www.youtube.com/watch?v=9aBHBfbV4yM" TargetMode="External"/><Relationship Id="rId7" Type="http://schemas.openxmlformats.org/officeDocument/2006/relationships/image" Target="../media/image15.jpg"/><Relationship Id="rId8" Type="http://schemas.openxmlformats.org/officeDocument/2006/relationships/hyperlink" Target="http://www.youtube.com/watch?v=GxtgQDDo40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hyperlink" Target="https://docs.google.com/document/d/1lEuk4XerJ1x3YXPKIl2ZKMZCly8nHoCt/edit?usp=sharing&amp;ouid=100007592666061012554&amp;rtpof=true&amp;sd=tru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hyperlink" Target="https://womenindata.mn.co/posts/datathon-project-submission-10498365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hyperlink" Target="https://www.eventbrite.com/e/2027-women-in-data-gala-tickets-1991709235940?aff=oddtdtcreator"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hyperlink" Target="https://womenindata.mn.co/spaces/24444184/fee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toolkit_imgs/s01.png" id="20" name="Google Shape;20;p1"/>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pic>
        <p:nvPicPr>
          <p:cNvPr descr="toolkit_imgs/s02.png" id="26" name="Google Shape;26;p2"/>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 name="Shape 31"/>
        <p:cNvGrpSpPr/>
        <p:nvPr/>
      </p:nvGrpSpPr>
      <p:grpSpPr>
        <a:xfrm>
          <a:off x="0" y="0"/>
          <a:ext cx="0" cy="0"/>
          <a:chOff x="0" y="0"/>
          <a:chExt cx="0" cy="0"/>
        </a:xfrm>
      </p:grpSpPr>
      <p:pic>
        <p:nvPicPr>
          <p:cNvPr id="32" name="Google Shape;32;p3" title="Datathon 2026 Design (WiD Portal Banner)  (4).png"/>
          <p:cNvPicPr preferRelativeResize="0"/>
          <p:nvPr/>
        </p:nvPicPr>
        <p:blipFill rotWithShape="1">
          <a:blip r:embed="rId4">
            <a:alphaModFix/>
          </a:blip>
          <a:srcRect b="0" l="0" r="0" t="75657"/>
          <a:stretch/>
        </p:blipFill>
        <p:spPr>
          <a:xfrm>
            <a:off x="339375" y="7917750"/>
            <a:ext cx="17746123" cy="2430000"/>
          </a:xfrm>
          <a:prstGeom prst="rect">
            <a:avLst/>
          </a:prstGeom>
          <a:noFill/>
          <a:ln>
            <a:noFill/>
          </a:ln>
        </p:spPr>
      </p:pic>
      <p:pic>
        <p:nvPicPr>
          <p:cNvPr id="33" name="Google Shape;33;p3" title="Datathon 2026 Design (WiD Portal Banner)  (4).png"/>
          <p:cNvPicPr preferRelativeResize="0"/>
          <p:nvPr/>
        </p:nvPicPr>
        <p:blipFill rotWithShape="1">
          <a:blip r:embed="rId4">
            <a:alphaModFix/>
          </a:blip>
          <a:srcRect b="77279" l="0" r="0" t="0"/>
          <a:stretch/>
        </p:blipFill>
        <p:spPr>
          <a:xfrm>
            <a:off x="270950" y="0"/>
            <a:ext cx="17746099" cy="226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pic>
        <p:nvPicPr>
          <p:cNvPr descr="toolkit_imgs/s04.png" id="39" name="Google Shape;39;p4"/>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 name="Shape 44"/>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toolkit_imgs/s06.png" id="50" name="Google Shape;50;p6"/>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toolkit_imgs/s07.png" id="56" name="Google Shape;56;p7"/>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8"/>
          <p:cNvSpPr txBox="1"/>
          <p:nvPr/>
        </p:nvSpPr>
        <p:spPr>
          <a:xfrm>
            <a:off x="14904000" y="3402000"/>
            <a:ext cx="1458000" cy="3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4"/>
              </a:rPr>
              <a:t>Link here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toolkit_imgs/s09.png" id="68" name="Google Shape;68;p9"/>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toolkit_imgs/s10.png" id="74" name="Google Shape;74;p10"/>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toolkit_imgs/s11.png" id="80" name="Google Shape;80;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toolkit_imgs/s12.png" id="86" name="Google Shape;8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toolkit_imgs/s14.png" id="97" name="Google Shape;97;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C8CF"/>
        </a:solidFill>
      </p:bgPr>
    </p:bg>
    <p:spTree>
      <p:nvGrpSpPr>
        <p:cNvPr id="102" name="Shape 102"/>
        <p:cNvGrpSpPr/>
        <p:nvPr/>
      </p:nvGrpSpPr>
      <p:grpSpPr>
        <a:xfrm>
          <a:off x="0" y="0"/>
          <a:ext cx="0" cy="0"/>
          <a:chOff x="0" y="0"/>
          <a:chExt cx="0" cy="0"/>
        </a:xfrm>
      </p:grpSpPr>
      <p:pic>
        <p:nvPicPr>
          <p:cNvPr descr="toolkit_imgs/s15.png" id="103" name="Google Shape;103;p15"/>
          <p:cNvPicPr preferRelativeResize="0"/>
          <p:nvPr/>
        </p:nvPicPr>
        <p:blipFill rotWithShape="1">
          <a:blip r:embed="rId3">
            <a:alphaModFix/>
          </a:blip>
          <a:srcRect b="0" l="0" r="0" t="17129"/>
          <a:stretch/>
        </p:blipFill>
        <p:spPr>
          <a:xfrm>
            <a:off x="0" y="1761750"/>
            <a:ext cx="18288000" cy="8525250"/>
          </a:xfrm>
          <a:prstGeom prst="rect">
            <a:avLst/>
          </a:prstGeom>
          <a:noFill/>
          <a:ln>
            <a:noFill/>
          </a:ln>
        </p:spPr>
      </p:pic>
      <p:pic>
        <p:nvPicPr>
          <p:cNvPr id="104" name="Google Shape;104;p15" title="Datathon 2026 Design (WiD Portal Banner)  (4).png"/>
          <p:cNvPicPr preferRelativeResize="0"/>
          <p:nvPr/>
        </p:nvPicPr>
        <p:blipFill rotWithShape="1">
          <a:blip r:embed="rId4">
            <a:alphaModFix/>
          </a:blip>
          <a:srcRect b="78740" l="0" r="0" t="0"/>
          <a:stretch/>
        </p:blipFill>
        <p:spPr>
          <a:xfrm>
            <a:off x="0" y="0"/>
            <a:ext cx="18288000" cy="2187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pic>
        <p:nvPicPr>
          <p:cNvPr descr="Women in Data hosted a 2022 Datathon highlighting:&#10;&#10;Equal Pay&#10;Paid Family Leave&#10;Education&#10;&#10;We gravitated towards Paid Family Leave. In the last 5-10 years we have seen many companies revise paid leave policies for the better. Most companies have room for improvement, but we wanted to analyze the initial progress made in companies in order to encourage others to follow suit. We began by using the Top 50 companies as listed by Fortune 500.&#10;&#10;See our Github here: https://github.com/monipip3/women_in_data_datathon" id="109" name="Google Shape;109;g3f7022f96d2_0_23" title="Datathon 2022 - 1st Place">
            <a:hlinkClick r:id="rId4"/>
          </p:cNvPr>
          <p:cNvPicPr preferRelativeResize="0"/>
          <p:nvPr/>
        </p:nvPicPr>
        <p:blipFill>
          <a:blip r:embed="rId5">
            <a:alphaModFix/>
          </a:blip>
          <a:stretch>
            <a:fillRect/>
          </a:stretch>
        </p:blipFill>
        <p:spPr>
          <a:xfrm>
            <a:off x="4248262" y="6591576"/>
            <a:ext cx="5260405" cy="3067350"/>
          </a:xfrm>
          <a:prstGeom prst="rect">
            <a:avLst/>
          </a:prstGeom>
          <a:noFill/>
          <a:ln>
            <a:noFill/>
          </a:ln>
        </p:spPr>
      </p:pic>
      <p:pic>
        <p:nvPicPr>
          <p:cNvPr id="110" name="Google Shape;110;g3f7022f96d2_0_23" title="Datathon 2023 - 1st Place">
            <a:hlinkClick r:id="rId6"/>
          </p:cNvPr>
          <p:cNvPicPr preferRelativeResize="0"/>
          <p:nvPr/>
        </p:nvPicPr>
        <p:blipFill>
          <a:blip r:embed="rId7">
            <a:alphaModFix/>
          </a:blip>
          <a:stretch>
            <a:fillRect/>
          </a:stretch>
        </p:blipFill>
        <p:spPr>
          <a:xfrm>
            <a:off x="4248274" y="3392075"/>
            <a:ext cx="5260376" cy="3067350"/>
          </a:xfrm>
          <a:prstGeom prst="rect">
            <a:avLst/>
          </a:prstGeom>
          <a:noFill/>
          <a:ln>
            <a:noFill/>
          </a:ln>
        </p:spPr>
      </p:pic>
      <p:pic>
        <p:nvPicPr>
          <p:cNvPr descr="Our Datathon theme this year, &quot;GenAI Playbook,&quot; invited teams to dive deep into various generative AI systems, including chatbots and multimodal AI, to uncover their advantages, disadvantages, best use cases, and potential risks.&#10;&#10;Team Excellence has been crowned our winners of the 2024 Datathon! Their project tackled the limitations of human-generated alt text and audio descriptions by leveraging GenAI to provide more reliable, contextually relevant, and accurate descriptions.&#10;&#10;Problem Statement:&#10;Often, the visually impaired rely heavily on alt text and audio descriptions while navigating their surroundings in the real-world. However, these human-generated descriptions are not always provided. When they are available, some of these can be either misleading, confusing or irrelevant, which could frustrate the users or worse, be potentially harmful to the visually impaired community." id="111" name="Google Shape;111;g3f7022f96d2_0_23" title="WID GenAI Datathon 2024 - 1st Place">
            <a:hlinkClick r:id="rId8"/>
          </p:cNvPr>
          <p:cNvPicPr preferRelativeResize="0"/>
          <p:nvPr/>
        </p:nvPicPr>
        <p:blipFill>
          <a:blip r:embed="rId9">
            <a:alphaModFix/>
          </a:blip>
          <a:stretch>
            <a:fillRect/>
          </a:stretch>
        </p:blipFill>
        <p:spPr>
          <a:xfrm>
            <a:off x="9791838" y="6697375"/>
            <a:ext cx="5260390" cy="3067350"/>
          </a:xfrm>
          <a:prstGeom prst="rect">
            <a:avLst/>
          </a:prstGeom>
          <a:noFill/>
          <a:ln>
            <a:noFill/>
          </a:ln>
        </p:spPr>
      </p:pic>
      <p:pic>
        <p:nvPicPr>
          <p:cNvPr descr="We showcase the first-place project from Women in Data™’s 2025 Space Awareness Datathon, where the team Cosmic Insights,  Kathryn Kashitsyn, Ashley Loong, Katia Lopes-Gilbert, and Esha Sayaji — took top honors with their groundbreaking analysis on space traffic and orbital risk.&#10;&#10;As Earth’s orbit grows more congested — with satellites skyrocketing from 3,371 in 2020 to over 15,000 by 2025 — the risk of collisions and debris is at an all-time high. Cosmic Insights tackled this challenge by:&#10;&#10;📊 Cleaning and analyzing over 9 million rows of orbital data.&#10;&#10;🛰️ Mapping orbital density and debris-to-payload ratios.&#10;&#10;⚠️ Identifying thousands of daily close approaches, some within 1 km or less.&#10;&#10;🌍 Recommending international standards, automated avoidance systems, and debris mitigation policies to ensure the sustainability of space.&#10;&#10;Their project not only highlights today’s orbital risks but also provides actionable insights for policymakers, industry leaders, and space agencies to safeguard the future of space exploration." id="112" name="Google Shape;112;g3f7022f96d2_0_23" title="Women in Data - Datathon 2025 1st place">
            <a:hlinkClick r:id="rId10"/>
          </p:cNvPr>
          <p:cNvPicPr preferRelativeResize="0"/>
          <p:nvPr/>
        </p:nvPicPr>
        <p:blipFill>
          <a:blip r:embed="rId11">
            <a:alphaModFix/>
          </a:blip>
          <a:stretch>
            <a:fillRect/>
          </a:stretch>
        </p:blipFill>
        <p:spPr>
          <a:xfrm>
            <a:off x="9695512" y="3500441"/>
            <a:ext cx="5260400" cy="29589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C8CF"/>
        </a:solidFill>
      </p:bgPr>
    </p:bg>
    <p:spTree>
      <p:nvGrpSpPr>
        <p:cNvPr id="117" name="Shape 117"/>
        <p:cNvGrpSpPr/>
        <p:nvPr/>
      </p:nvGrpSpPr>
      <p:grpSpPr>
        <a:xfrm>
          <a:off x="0" y="0"/>
          <a:ext cx="0" cy="0"/>
          <a:chOff x="0" y="0"/>
          <a:chExt cx="0" cy="0"/>
        </a:xfrm>
      </p:grpSpPr>
      <p:pic>
        <p:nvPicPr>
          <p:cNvPr descr="toolkit_imgs/s16.png" id="118" name="Google Shape;118;p16"/>
          <p:cNvPicPr preferRelativeResize="0"/>
          <p:nvPr/>
        </p:nvPicPr>
        <p:blipFill rotWithShape="1">
          <a:blip r:embed="rId3">
            <a:alphaModFix/>
          </a:blip>
          <a:srcRect b="0" l="0" r="0" t="17321"/>
          <a:stretch/>
        </p:blipFill>
        <p:spPr>
          <a:xfrm>
            <a:off x="0" y="1782000"/>
            <a:ext cx="18288000" cy="8505000"/>
          </a:xfrm>
          <a:prstGeom prst="rect">
            <a:avLst/>
          </a:prstGeom>
          <a:noFill/>
          <a:ln>
            <a:noFill/>
          </a:ln>
        </p:spPr>
      </p:pic>
      <p:pic>
        <p:nvPicPr>
          <p:cNvPr id="119" name="Google Shape;119;p16" title="Datathon 2026 Design (WiD Portal Banner)  (4).png"/>
          <p:cNvPicPr preferRelativeResize="0"/>
          <p:nvPr/>
        </p:nvPicPr>
        <p:blipFill rotWithShape="1">
          <a:blip r:embed="rId4">
            <a:alphaModFix/>
          </a:blip>
          <a:srcRect b="78740" l="0" r="0" t="0"/>
          <a:stretch/>
        </p:blipFill>
        <p:spPr>
          <a:xfrm>
            <a:off x="0" y="-243000"/>
            <a:ext cx="18288000" cy="2187000"/>
          </a:xfrm>
          <a:prstGeom prst="rect">
            <a:avLst/>
          </a:prstGeom>
          <a:noFill/>
          <a:ln>
            <a:noFill/>
          </a:ln>
        </p:spPr>
      </p:pic>
      <p:sp>
        <p:nvSpPr>
          <p:cNvPr id="120" name="Google Shape;120;p16"/>
          <p:cNvSpPr/>
          <p:nvPr/>
        </p:nvSpPr>
        <p:spPr>
          <a:xfrm>
            <a:off x="11708675" y="2452200"/>
            <a:ext cx="2523000" cy="339600"/>
          </a:xfrm>
          <a:prstGeom prst="rect">
            <a:avLst/>
          </a:prstGeom>
          <a:solidFill>
            <a:srgbClr val="DBC8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BC8CF"/>
              </a:solidFill>
            </a:endParaRPr>
          </a:p>
        </p:txBody>
      </p:sp>
      <p:sp>
        <p:nvSpPr>
          <p:cNvPr id="121" name="Google Shape;121;p16"/>
          <p:cNvSpPr txBox="1"/>
          <p:nvPr/>
        </p:nvSpPr>
        <p:spPr>
          <a:xfrm>
            <a:off x="11751725" y="2391450"/>
            <a:ext cx="2646000" cy="3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481A33"/>
                </a:solidFill>
                <a:latin typeface="Montserrat SemiBold"/>
                <a:ea typeface="Montserrat SemiBold"/>
                <a:cs typeface="Montserrat SemiBold"/>
                <a:sym typeface="Montserrat SemiBold"/>
              </a:rPr>
              <a:t>(7 Minutes Max!) </a:t>
            </a:r>
            <a:endParaRPr sz="1900">
              <a:solidFill>
                <a:srgbClr val="481A33"/>
              </a:solidFill>
              <a:latin typeface="Montserrat SemiBold"/>
              <a:ea typeface="Montserrat SemiBold"/>
              <a:cs typeface="Montserrat SemiBold"/>
              <a:sym typeface="Montserrat SemiBold"/>
            </a:endParaRPr>
          </a:p>
        </p:txBody>
      </p:sp>
      <p:sp>
        <p:nvSpPr>
          <p:cNvPr id="122" name="Google Shape;122;p16"/>
          <p:cNvSpPr txBox="1"/>
          <p:nvPr/>
        </p:nvSpPr>
        <p:spPr>
          <a:xfrm>
            <a:off x="5569800" y="9031500"/>
            <a:ext cx="71484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500" u="sng">
                <a:solidFill>
                  <a:schemeClr val="hlink"/>
                </a:solidFill>
                <a:latin typeface="Open Sans"/>
                <a:ea typeface="Open Sans"/>
                <a:cs typeface="Open Sans"/>
                <a:sym typeface="Open Sans"/>
                <a:hlinkClick r:id="rId5"/>
              </a:rPr>
              <a:t>Read the full Presentation outline here.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C8CF"/>
        </a:solidFill>
      </p:bgPr>
    </p:bg>
    <p:spTree>
      <p:nvGrpSpPr>
        <p:cNvPr id="127" name="Shape 127"/>
        <p:cNvGrpSpPr/>
        <p:nvPr/>
      </p:nvGrpSpPr>
      <p:grpSpPr>
        <a:xfrm>
          <a:off x="0" y="0"/>
          <a:ext cx="0" cy="0"/>
          <a:chOff x="0" y="0"/>
          <a:chExt cx="0" cy="0"/>
        </a:xfrm>
      </p:grpSpPr>
      <p:pic>
        <p:nvPicPr>
          <p:cNvPr descr="toolkit_imgs/s17.png" id="128" name="Google Shape;128;p17"/>
          <p:cNvPicPr preferRelativeResize="0"/>
          <p:nvPr/>
        </p:nvPicPr>
        <p:blipFill rotWithShape="1">
          <a:blip r:embed="rId3">
            <a:alphaModFix/>
          </a:blip>
          <a:srcRect b="0" l="0" r="0" t="20077"/>
          <a:stretch/>
        </p:blipFill>
        <p:spPr>
          <a:xfrm>
            <a:off x="0" y="2035100"/>
            <a:ext cx="18288000" cy="8221500"/>
          </a:xfrm>
          <a:prstGeom prst="rect">
            <a:avLst/>
          </a:prstGeom>
          <a:noFill/>
          <a:ln>
            <a:noFill/>
          </a:ln>
        </p:spPr>
      </p:pic>
      <p:pic>
        <p:nvPicPr>
          <p:cNvPr id="129" name="Google Shape;129;p17" title="Datathon 2026 Design (WiD Portal Banner)  (4).png"/>
          <p:cNvPicPr preferRelativeResize="0"/>
          <p:nvPr/>
        </p:nvPicPr>
        <p:blipFill rotWithShape="1">
          <a:blip r:embed="rId4">
            <a:alphaModFix/>
          </a:blip>
          <a:srcRect b="80173" l="0" r="0" t="0"/>
          <a:stretch/>
        </p:blipFill>
        <p:spPr>
          <a:xfrm>
            <a:off x="76200" y="42850"/>
            <a:ext cx="18135600" cy="2022651"/>
          </a:xfrm>
          <a:prstGeom prst="rect">
            <a:avLst/>
          </a:prstGeom>
          <a:noFill/>
          <a:ln>
            <a:noFill/>
          </a:ln>
        </p:spPr>
      </p:pic>
      <p:sp>
        <p:nvSpPr>
          <p:cNvPr id="130" name="Google Shape;130;p17"/>
          <p:cNvSpPr txBox="1"/>
          <p:nvPr/>
        </p:nvSpPr>
        <p:spPr>
          <a:xfrm>
            <a:off x="4032900" y="4455000"/>
            <a:ext cx="23460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5"/>
              </a:rPr>
              <a:t>_____________________</a:t>
            </a:r>
            <a:endParaRPr/>
          </a:p>
        </p:txBody>
      </p:sp>
      <p:sp>
        <p:nvSpPr>
          <p:cNvPr id="131" name="Google Shape;131;p17"/>
          <p:cNvSpPr/>
          <p:nvPr/>
        </p:nvSpPr>
        <p:spPr>
          <a:xfrm>
            <a:off x="6996825" y="3480675"/>
            <a:ext cx="172200" cy="283800"/>
          </a:xfrm>
          <a:prstGeom prst="rect">
            <a:avLst/>
          </a:prstGeom>
          <a:solidFill>
            <a:srgbClr val="E9DFD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txBox="1"/>
          <p:nvPr/>
        </p:nvSpPr>
        <p:spPr>
          <a:xfrm>
            <a:off x="6924675" y="3394545"/>
            <a:ext cx="316500" cy="3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481A33"/>
                </a:solidFill>
                <a:latin typeface="Montserrat SemiBold"/>
                <a:ea typeface="Montserrat SemiBold"/>
                <a:cs typeface="Montserrat SemiBold"/>
                <a:sym typeface="Montserrat SemiBold"/>
              </a:rPr>
              <a:t>7 </a:t>
            </a:r>
            <a:endParaRPr sz="1900">
              <a:solidFill>
                <a:srgbClr val="481A33"/>
              </a:solidFill>
              <a:latin typeface="Montserrat SemiBold"/>
              <a:ea typeface="Montserrat SemiBold"/>
              <a:cs typeface="Montserrat SemiBold"/>
              <a:sym typeface="Montserrat SemiBold"/>
            </a:endParaRPr>
          </a:p>
        </p:txBody>
      </p:sp>
      <p:sp>
        <p:nvSpPr>
          <p:cNvPr id="133" name="Google Shape;133;p17"/>
          <p:cNvSpPr/>
          <p:nvPr/>
        </p:nvSpPr>
        <p:spPr>
          <a:xfrm>
            <a:off x="12129750" y="3705750"/>
            <a:ext cx="2025000" cy="526500"/>
          </a:xfrm>
          <a:prstGeom prst="rect">
            <a:avLst/>
          </a:prstGeom>
          <a:solidFill>
            <a:srgbClr val="481A3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g3f7022f96d2_0_204"/>
          <p:cNvSpPr/>
          <p:nvPr/>
        </p:nvSpPr>
        <p:spPr>
          <a:xfrm>
            <a:off x="9254250" y="7356550"/>
            <a:ext cx="5913000" cy="460200"/>
          </a:xfrm>
          <a:prstGeom prst="rect">
            <a:avLst/>
          </a:prstGeom>
          <a:solidFill>
            <a:srgbClr val="DBC8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g3f7022f96d2_0_204"/>
          <p:cNvSpPr txBox="1"/>
          <p:nvPr/>
        </p:nvSpPr>
        <p:spPr>
          <a:xfrm>
            <a:off x="11745000" y="6844500"/>
            <a:ext cx="24909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u="sng">
                <a:solidFill>
                  <a:schemeClr val="hlink"/>
                </a:solidFill>
                <a:latin typeface="Montserrat Medium"/>
                <a:ea typeface="Montserrat Medium"/>
                <a:cs typeface="Montserrat Medium"/>
                <a:sym typeface="Montserrat Medium"/>
                <a:hlinkClick r:id="rId4"/>
              </a:rPr>
              <a:t>Link here</a:t>
            </a:r>
            <a:endParaRPr sz="24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 name="Shape 143"/>
        <p:cNvGrpSpPr/>
        <p:nvPr/>
      </p:nvGrpSpPr>
      <p:grpSpPr>
        <a:xfrm>
          <a:off x="0" y="0"/>
          <a:ext cx="0" cy="0"/>
          <a:chOff x="0" y="0"/>
          <a:chExt cx="0" cy="0"/>
        </a:xfrm>
      </p:grpSpPr>
      <p:sp>
        <p:nvSpPr>
          <p:cNvPr id="144" name="Google Shape;144;g3f7022f96d2_0_123"/>
          <p:cNvSpPr txBox="1"/>
          <p:nvPr/>
        </p:nvSpPr>
        <p:spPr>
          <a:xfrm>
            <a:off x="5569800" y="8626500"/>
            <a:ext cx="71484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500" u="sng">
                <a:solidFill>
                  <a:schemeClr val="hlink"/>
                </a:solidFill>
                <a:latin typeface="Open Sans"/>
                <a:ea typeface="Open Sans"/>
                <a:cs typeface="Open Sans"/>
                <a:sym typeface="Open Sans"/>
                <a:hlinkClick r:id="rId4"/>
              </a:rPr>
              <a:t>Ask your questions here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2026-08-13T17:39:44Z</dcterms:created>
  <dc:creator>PptxGenJS</dc:creator>
</cp:coreProperties>
</file>